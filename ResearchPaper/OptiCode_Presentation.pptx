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Compile Time Reduction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Compile Time (ms)</c:v>
                </c:pt>
              </c:strCache>
            </c:strRef>
          </c:tx>
          <c:spPr>
            <a:solidFill>
              <a:srgbClr val="F8514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851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ED2-4FAE-906E-D78B5D1C64D1}"/>
              </c:ext>
            </c:extLst>
          </c:dPt>
          <c:dPt>
            <c:idx val="1"/>
            <c:invertIfNegative val="0"/>
            <c:bubble3D val="0"/>
            <c:spPr>
              <a:solidFill>
                <a:srgbClr val="3FB9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ED2-4FAE-906E-D78B5D1C64D1}"/>
              </c:ext>
            </c:extLst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Original</c:v>
                </c:pt>
                <c:pt idx="1">
                  <c:v>Optimized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1.1299999999999999</c:v>
                </c:pt>
                <c:pt idx="1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ED2-4FAE-906E-D78B5D1C64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C233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Efficiency Rating Comparison (0-10)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 Rating</c:v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D8B-48A0-9409-773638A2C8FB}"/>
              </c:ext>
            </c:extLst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D8B-48A0-9409-773638A2C8FB}"/>
              </c:ext>
            </c:extLst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D8B-48A0-9409-773638A2C8FB}"/>
              </c:ext>
            </c:extLst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D8B-48A0-9409-773638A2C8F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Rfmtoleds</c:v>
                </c:pt>
                <c:pt idx="1">
                  <c:v>Agilla</c:v>
                </c:pt>
                <c:pt idx="2">
                  <c:v>Taskapp</c:v>
                </c:pt>
                <c:pt idx="3">
                  <c:v>OptiCode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3.45</c:v>
                </c:pt>
                <c:pt idx="1">
                  <c:v>3.67</c:v>
                </c:pt>
                <c:pt idx="2">
                  <c:v>3.89</c:v>
                </c:pt>
                <c:pt idx="3">
                  <c:v>5.38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D8B-48A0-9409-773638A2C8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C23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2052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0BABE-1828-D57A-9DFB-1306D12B9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790E15-3BE9-070D-AEEE-4AD6AA9FA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7D4A1-28FE-85CD-9765-DB0CEBA7E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262F2-AD06-7DFD-0C22-09D90B53EA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734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379698" y="1849906"/>
            <a:ext cx="2560320" cy="2048256"/>
          </a:xfrm>
          <a:prstGeom prst="rect">
            <a:avLst/>
          </a:prstGeom>
          <a:solidFill>
            <a:srgbClr val="161B22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6682148" y="214180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optimize(code):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949440" y="232890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tree = ast.parse(code)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949440" y="2523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dce = DeadCodeElim()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949440" y="2724205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licm = LoopInvariant()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49440" y="29324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tree = dce.visit(tree)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49440" y="315468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tree = licm.visit(tree)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949440" y="3348815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ast.unparse(tree)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7315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OptiCode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Approach to Eliminate Dead Code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Optimize Loop Structure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114800" cy="3657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Code Elimination  ·  Loop Invariant Code Motion  ·  AST 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2455" y="4218202"/>
            <a:ext cx="8384345" cy="67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Singh		- BT23CSE009	</a:t>
            </a:r>
            <a:b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Yogesh Bhivsane	- BT23CSE013</a:t>
            </a:r>
            <a:b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Verma		- BT23CSE019</a:t>
            </a:r>
            <a:endParaRPr lang="en-US" sz="1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OptiCode?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31603"/>
            <a:ext cx="4023360" cy="3274638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4475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49808" y="132658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sophisticated code optimization tool built using Python's AST (Abstract Syntax Tree) module.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13969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9808" y="200042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two powerful techniques: Dead Code Elimination (DCE) and Loop Invariant Code Motion (LICM).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49808" y="268833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Python source code structurally, not just as plain text, for precise optimization.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52958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49808" y="34184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cleaner, faster code by removing redundancy at the syntax level.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114800" cy="1005840"/>
          </a:xfrm>
          <a:prstGeom prst="rect">
            <a:avLst/>
          </a:prstGeom>
          <a:solidFill>
            <a:srgbClr val="1C2333"/>
          </a:solidFill>
          <a:ln w="1905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73152" cy="10058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46320" y="960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4.86%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Code Removed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057400"/>
            <a:ext cx="4114800" cy="1005840"/>
          </a:xfrm>
          <a:prstGeom prst="rect">
            <a:avLst/>
          </a:prstGeom>
          <a:solidFill>
            <a:srgbClr val="1C2333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2057400"/>
            <a:ext cx="73152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5.38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846320" y="2606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Rating (0–10)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200400"/>
            <a:ext cx="4114800" cy="1005840"/>
          </a:xfrm>
          <a:prstGeom prst="rect">
            <a:avLst/>
          </a:prstGeom>
          <a:solidFill>
            <a:srgbClr val="1C2333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663440" y="3200400"/>
            <a:ext cx="73152" cy="10058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46320" y="3246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6.96%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4846320" y="3749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Improvement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Core Optimization Techniques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977640"/>
          </a:xfrm>
          <a:prstGeom prst="rect">
            <a:avLst/>
          </a:prstGeom>
          <a:solidFill>
            <a:srgbClr val="1C2333"/>
          </a:solidFill>
          <a:ln w="1905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5029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8869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Dead Code Elimination (DCE)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dead code?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is never executed or whose result is never used — unused variables, unreachable branches.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258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AST helps: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50545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code into a tree; walks the tree to find Name nodes with Load context (actual usage).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0083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32552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assigned but never loaded are pruned. 'if False:' branches are removed entirely.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7581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4005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Leaner codebase — fewer lines, smaller memory footprint, no wasted computation.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868680"/>
            <a:ext cx="4114800" cy="3977640"/>
          </a:xfrm>
          <a:prstGeom prst="rect">
            <a:avLst/>
          </a:prstGeom>
          <a:solidFill>
            <a:srgbClr val="1C2333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754880" y="868680"/>
            <a:ext cx="4114800" cy="5029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46320" y="8869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Loop Invariant Code Motion (LICM)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14665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loop invariant?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7556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computation inside a loop whose value does not change across iterations, e.g., x + y when neither x nor y is modified.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258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detected: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50545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which variables are assigned (Store context) inside the loop, any assignment not using those vars is invariant.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0083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Hoisting: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2552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statements are moved before the loop body, executing once instead of N times.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7581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4005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100 iterations, 1 computation replaces 100, dramatic runtime savings for heavy workloads.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OptiCode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Works: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1508760"/>
          </a:xfrm>
          <a:prstGeom prst="rect">
            <a:avLst/>
          </a:prstGeom>
          <a:solidFill>
            <a:srgbClr val="1C2333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38912" cy="438912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8813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Source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Python code fed into OptiCode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35808" y="1673352"/>
            <a:ext cx="192024" cy="8229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697480" cy="1508760"/>
          </a:xfrm>
          <a:prstGeom prst="rect">
            <a:avLst/>
          </a:prstGeom>
          <a:solidFill>
            <a:srgbClr val="1C2333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383280" y="1097280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83280" y="108813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31920" y="1097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Parsing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61848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ast.parse() builds syntax tree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61888" y="1673352"/>
            <a:ext cx="192024" cy="8229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72200" y="960120"/>
            <a:ext cx="2697480" cy="1508760"/>
          </a:xfrm>
          <a:prstGeom prst="rect">
            <a:avLst/>
          </a:prstGeom>
          <a:solidFill>
            <a:srgbClr val="1C2333"/>
          </a:solidFill>
          <a:ln w="1905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309360" y="1097280"/>
            <a:ext cx="438912" cy="438912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09360" y="108813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1097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Code Elimination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161848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vars &amp; unreachable branches removed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834640"/>
            <a:ext cx="2697480" cy="1508760"/>
          </a:xfrm>
          <a:prstGeom prst="rect">
            <a:avLst/>
          </a:prstGeom>
          <a:solidFill>
            <a:srgbClr val="1C2333"/>
          </a:solidFill>
          <a:ln w="1905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438912" cy="438912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296265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2971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Invariant Motion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49300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assignments hoisted outside loops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35808" y="3547872"/>
            <a:ext cx="192024" cy="8229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246120" y="2834640"/>
            <a:ext cx="2697480" cy="1508760"/>
          </a:xfrm>
          <a:prstGeom prst="rect">
            <a:avLst/>
          </a:prstGeom>
          <a:solidFill>
            <a:srgbClr val="1C2333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383280" y="2971800"/>
            <a:ext cx="438912" cy="43891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383280" y="296265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931920" y="2971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Unparse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83280" y="349300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repaired, converted back to code string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61888" y="3547872"/>
            <a:ext cx="192024" cy="8229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172200" y="2834640"/>
            <a:ext cx="2697480" cy="1508760"/>
          </a:xfrm>
          <a:prstGeom prst="rect">
            <a:avLst/>
          </a:prstGeom>
          <a:solidFill>
            <a:srgbClr val="1C2333"/>
          </a:solidFill>
          <a:ln w="1905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309360" y="2971800"/>
            <a:ext cx="438912" cy="438912"/>
          </a:xfrm>
          <a:prstGeom prst="ellipse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309360" y="296265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58000" y="2971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Output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09360" y="349300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metrics + optimized code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480560" y="2487168"/>
            <a:ext cx="82296" cy="32918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343400" y="27432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</a:rPr>
              <a:t>▼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 : Before Optimization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512064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5120640" cy="3474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7955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original_code.py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Contains dead code + loop-invariant computation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60934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20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30  #  Dead code — z never used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04825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26771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unused_function():  # Never called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42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70662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92608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14553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range(100):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36499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constant_value = x + y  # Invariant!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+= constant_value * 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80390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02336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print(f"Result: {result}")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0" y="1965960"/>
            <a:ext cx="3108960" cy="685800"/>
          </a:xfrm>
          <a:prstGeom prst="rect">
            <a:avLst/>
          </a:prstGeom>
          <a:solidFill>
            <a:srgbClr val="1C2333"/>
          </a:solidFill>
          <a:ln w="1524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669280" y="1965960"/>
            <a:ext cx="64008" cy="685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806440" y="2002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Variable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06440" y="2240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30 is assigned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never read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0" y="2743200"/>
            <a:ext cx="3108960" cy="685800"/>
          </a:xfrm>
          <a:prstGeom prst="rect">
            <a:avLst/>
          </a:prstGeom>
          <a:solidFill>
            <a:srgbClr val="1C2333"/>
          </a:solidFill>
          <a:ln w="1524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669280" y="2743200"/>
            <a:ext cx="64008" cy="685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806440" y="27797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Function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06440" y="3017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unused_function()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never called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0" y="3538728"/>
            <a:ext cx="3108960" cy="685800"/>
          </a:xfrm>
          <a:prstGeom prst="rect">
            <a:avLst/>
          </a:prstGeom>
          <a:solidFill>
            <a:srgbClr val="1C2333"/>
          </a:solidFill>
          <a:ln w="1524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669280" y="3538728"/>
            <a:ext cx="64008" cy="6858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806440" y="3575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Invariant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06440" y="3813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y doesn't change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100 iterations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 : After Optimization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846320" cy="32004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846320" cy="34747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7955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optimized_code.py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399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20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 removed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8562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0848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unused_function removed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3134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542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7706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constant_value = x + y  # Hoisted!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9992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range(100):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2278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+= constant_value * 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4564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685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print(f"Result: {result}")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4846320" cy="685800"/>
          </a:xfrm>
          <a:prstGeom prst="rect">
            <a:avLst/>
          </a:prstGeom>
          <a:solidFill>
            <a:srgbClr val="1C2333"/>
          </a:solidFill>
          <a:ln w="63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2920" y="4206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 Output:  Result: 148500  (unchanged — functionality preserved)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777240"/>
            <a:ext cx="3474720" cy="4023360"/>
          </a:xfrm>
          <a:prstGeom prst="rect">
            <a:avLst/>
          </a:prstGeom>
          <a:solidFill>
            <a:srgbClr val="1C2333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394960" y="777240"/>
            <a:ext cx="3474720" cy="34747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0" y="7955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32120" y="1280160"/>
            <a:ext cx="292608" cy="29260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532120" y="126187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97880" y="12618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5 removed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30 (unused variable)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32120" y="2029968"/>
            <a:ext cx="292608" cy="29260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532120" y="201168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97880" y="2011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7-8 removed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unused_function() dead code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32120" y="2779776"/>
            <a:ext cx="292608" cy="292608"/>
          </a:xfrm>
          <a:prstGeom prst="ellipse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532120" y="276148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97880" y="27614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14 hoisted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constant_value = x+y moved above loop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32120" y="3529584"/>
            <a:ext cx="292608" cy="29260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532120" y="3511296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97880" y="351129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lines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 lines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code size reduction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Efficiency Analysis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82296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82296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749040"/>
            <a:ext cx="1920240" cy="100584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32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731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274320" y="4279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OptiCode Codebase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468880" y="3749040"/>
            <a:ext cx="1920240" cy="100584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246888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2468880" y="4279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Code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Found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663440" y="3749040"/>
            <a:ext cx="1920240" cy="100584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466344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663440" y="4279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858000" y="3749040"/>
            <a:ext cx="1920240" cy="100584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685800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6858000" y="4279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Time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32518" y="822960"/>
            <a:ext cx="8628602" cy="822960"/>
          </a:xfrm>
          <a:prstGeom prst="rect">
            <a:avLst/>
          </a:prstGeom>
          <a:solidFill>
            <a:srgbClr val="1C2333"/>
          </a:solidFill>
          <a:ln w="254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ΔE  =  (1 − (I_removed_DCE / S_size) × (T_optimized / T_original))  ×  ((μ · P · Q) − (1 − R))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206240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94767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improvement in code efficiency achieved by combining DCE + LICM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874520"/>
            <a:ext cx="4206240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54880" y="1874520"/>
            <a:ext cx="64008" cy="6858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92040" y="194767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2120" y="194767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of time saved by hoisting invariant code vs original execution time: μ = 1 − (T_opt / T_orig)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206240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64008" cy="68580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277063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77063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loops in the original source code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697480"/>
            <a:ext cx="4206240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754880" y="2697480"/>
            <a:ext cx="64008" cy="68580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92040" y="277063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32120" y="277063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number of lines inside each loop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520440"/>
            <a:ext cx="4206240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5760" y="3520440"/>
            <a:ext cx="64008" cy="6858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" y="359359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359359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adjustment ratio: (S_optimized − S_original) / S_original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520440"/>
            <a:ext cx="4206240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54880" y="3520440"/>
            <a:ext cx="64008" cy="685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92040" y="359359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I_DCE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32120" y="359359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of dead code eliminated (lines removed during DCE phase)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434840"/>
            <a:ext cx="85953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02920" y="44622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μ = invariant computations are expensive → big savings when hoisted.  Low μ = computations cheap → modest gain.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60520" cy="1737360"/>
          </a:xfrm>
          <a:prstGeom prst="rect">
            <a:avLst/>
          </a:prstGeom>
          <a:solidFill>
            <a:srgbClr val="1C2333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605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AST-Powered Precision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operating on Abstract Syntax Trees rather than raw text, OptiCode achieves structural understanding that token-based tools cannot match.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822960"/>
            <a:ext cx="4160520" cy="1737360"/>
          </a:xfrm>
          <a:prstGeom prst="rect">
            <a:avLst/>
          </a:prstGeom>
          <a:solidFill>
            <a:srgbClr val="1C2333"/>
          </a:solidFill>
          <a:ln w="1905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4160520" cy="640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83480" y="9875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Code Elimination Works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4173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4.86–5.56% of code identified as dead and removed, including unused variables, unreachable branches, and uncalled functions.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4160520" cy="1737360"/>
          </a:xfrm>
          <a:prstGeom prst="rect">
            <a:avLst/>
          </a:prstGeom>
          <a:solidFill>
            <a:srgbClr val="1C2333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416052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29535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LICM Delivers Real Speedups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 loop-invariant computations converts O(N) redundant operations into O(1), yielding 6.96–11.43% runtime improvement.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788920"/>
            <a:ext cx="4160520" cy="1737360"/>
          </a:xfrm>
          <a:prstGeom prst="rect">
            <a:avLst/>
          </a:prstGeom>
          <a:solidFill>
            <a:srgbClr val="1C2333"/>
          </a:solidFill>
          <a:ln w="1905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800600" y="2788920"/>
            <a:ext cx="4160520" cy="640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83480" y="29535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Industry-Leading Efficiency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38328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rating 5.38/10, outperforming Taskapp (3.89), Agilla (3.67), and Rfmtoleds (3.45) in comparative benchmarks.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0CFC1C-F570-C523-2626-C9BFA9375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2A2922-339A-351D-C3EB-C50B4EFF0D57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A2E973C-6E1E-1774-7FD0-F48C52524D5B}"/>
              </a:ext>
            </a:extLst>
          </p:cNvPr>
          <p:cNvSpPr/>
          <p:nvPr/>
        </p:nvSpPr>
        <p:spPr>
          <a:xfrm>
            <a:off x="457200" y="4629692"/>
            <a:ext cx="8229600" cy="29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 Advances in Nonlinear Variational Inequalities, ISSN: 1092-910X, Vol 28 No. 2s (2025)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54B61C-C452-6C43-022C-00FBF4807379}"/>
              </a:ext>
            </a:extLst>
          </p:cNvPr>
          <p:cNvSpPr txBox="1"/>
          <p:nvPr/>
        </p:nvSpPr>
        <p:spPr>
          <a:xfrm>
            <a:off x="2796540" y="2110085"/>
            <a:ext cx="3863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730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987</Words>
  <Application>Microsoft Office PowerPoint</Application>
  <PresentationFormat>On-screen Show (16:9)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OptiCode - Code Optimization Tool</dc:title>
  <dc:subject>PptxGenJS Presentation</dc:subject>
  <dc:creator>PptxGenJS</dc:creator>
  <cp:lastModifiedBy>varun s</cp:lastModifiedBy>
  <cp:revision>2</cp:revision>
  <dcterms:created xsi:type="dcterms:W3CDTF">2026-04-15T16:19:37Z</dcterms:created>
  <dcterms:modified xsi:type="dcterms:W3CDTF">2026-04-15T16:50:29Z</dcterms:modified>
</cp:coreProperties>
</file>